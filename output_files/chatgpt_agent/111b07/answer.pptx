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2-2.svg" ContentType="image/svg+xml"/>
  <Override PartName="/ppt/media/image-2-4.svg" ContentType="image/svg+xml"/>
  <Override PartName="/ppt/media/image-2-6.svg" ContentType="image/svg+xml"/>
  <Override PartName="/ppt/media/image-2-8.svg" ContentType="image/svg+xml"/>
  <Override PartName="/ppt/media/image-5-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Temperature (°C)</c:v>
                </c:pt>
              </c:strCache>
            </c:strRef>
          </c:tx>
          <c:spPr>
            <a:solidFill>
              <a:srgbClr val="50A2A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Living Room</c:v>
                  </c:pt>
                  <c:pt idx="1">
                    <c:v>Hallway</c:v>
                  </c:pt>
                  <c:pt idx="2">
                    <c:v>Bedroom</c:v>
                  </c:pt>
                  <c:pt idx="3">
                    <c:v>Zone 2</c:v>
                  </c:pt>
                  <c:pt idx="4">
                    <c:v>External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19.3</c:v>
                </c:pt>
                <c:pt idx="1">
                  <c:v>18.8</c:v>
                </c:pt>
                <c:pt idx="2">
                  <c:v>18.9</c:v>
                </c:pt>
                <c:pt idx="3">
                  <c:v>18.8</c:v>
                </c:pt>
                <c:pt idx="4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hyperlink" Target="ets.publishing.service.gov.uk/media/5a7b7c79ed915d1a79023974/1_Summary_Report.pdf" TargetMode="External"/><Relationship Id="rId11" Type="http://schemas.openxmlformats.org/officeDocument/2006/relationships/hyperlink" Target="ets.publishing.service.gov.uk/media/5a7b7c79ed915d1a79023974/1_Summary_Report.pdf#:~:text=%C2%A7%20The%20median%20annual%20mains,around%203%2C700%20kWh%20for%20electricity2" TargetMode="External"/><Relationship Id="rId12" Type="http://schemas.openxmlformats.org/officeDocument/2006/relationships/hyperlink" Target="ets.publishing.service.gov.uk/media/5a7b7c79ed915d1a79023974/1_Summary_Report.pdf#:~:text=findings%20of%20relevance%20to%20energy,10%20to%2015%20hours" TargetMode="External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hyperlink" Target="ets.publishing.service.gov.uk/media/5a7b7c79ed915d1a79023974/1_Summary_Report.pdf#:~:text=Mean%20household%20temperatures%20have%20been,6%C2%B0C" TargetMode="External"/><Relationship Id="rId3" Type="http://schemas.openxmlformats.org/officeDocument/2006/relationships/hyperlink" Target="ets.publishing.service.gov.uk/media/5a7b7c79ed915d1a79023974/1_Summary_Report.pdf#:~:text=those%20typically%20calculated%20through%20SAP,6%C2%B0C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ets.publishing.service.gov.uk/media/5a7b7c79ed915d1a79023974/1_Summary_Report.pdf#:~:text=8.4" TargetMode="External"/><Relationship Id="rId2" Type="http://schemas.openxmlformats.org/officeDocument/2006/relationships/hyperlink" Target="ets.publishing.service.gov.uk/media/5a7b7c79ed915d1a79023974/1_Summary_Report.pdf#:~:text=N%2FA%2095,daily%20heating%20hours" TargetMode="External"/><Relationship Id="rId3" Type="http://schemas.openxmlformats.org/officeDocument/2006/relationships/hyperlink" Target="ets.publishing.service.gov.uk/media/5a7b7c79ed915d1a79023974/1_Summary_Report.pdf#:~:text=%C2%A7%20The%20median%20annual%20mains,around%203%2C700%20kWh%20for%20electricity2" TargetMode="External"/><Relationship Id="rId4" Type="http://schemas.openxmlformats.org/officeDocument/2006/relationships/hyperlink" Target="ets.publishing.service.gov.uk/media/5a7b7c79ed915d1a79023974/1_Summary_Report.pdf#:~:text=The%20analysis%20provides%20evidence%20of,existing%20algorithms%20used%20in%20modelling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hyperlink" Target="ets.publishing.service.gov.uk/media/5a7b7c79ed915d1a79023974/1_Summary_Report.pdf#:~:text=The%209%20hours%20of%20heating,21%C2%B0C%20in%20zone%201%20and" TargetMode="External"/><Relationship Id="rId4" Type="http://schemas.openxmlformats.org/officeDocument/2006/relationships/hyperlink" Target="ets.publishing.service.gov.uk/media/5a7b7c79ed915d1a79023974/1_Summary_Report.pdf" TargetMode="External"/><Relationship Id="rId5" Type="http://schemas.openxmlformats.org/officeDocument/2006/relationships/hyperlink" Target="ets.publishing.service.gov.uk/media/5a7b7c79ed915d1a79023974/1_Summary_Report.pdf#:~:text=temperatures%3A%20these%20are%20centrally%20heated,LIHC%29%20indicator" TargetMode="External"/><Relationship Id="rId6" Type="http://schemas.openxmlformats.org/officeDocument/2006/relationships/hyperlink" Target="ets.publishing.service.gov.uk/media/5a7b7c79ed915d1a79023974/1_Summary_Report.pdf#:~:text=electricity,existing%20algorithms%20used%20in%20modelling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ai/share/159d4d61-927c-433a-8721-57eed380e492.png">    </p:cNvPr>
          <p:cNvPicPr>
            <a:picLocks noChangeAspect="1"/>
          </p:cNvPicPr>
          <p:nvPr/>
        </p:nvPicPr>
        <p:blipFill>
          <a:blip r:embed="rId1"/>
          <a:srcRect l="18148" r="18148" t="0" b="0"/>
          <a:stretch/>
        </p:blipFill>
        <p:spPr>
          <a:xfrm>
            <a:off x="5029200" y="457200"/>
            <a:ext cx="393192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6459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Energy Use in England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65760" y="274320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from the 2011 Energy Follow‑Up Survey (EFUS)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42062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23,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Findings &amp; Implications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137160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 1 (living room) vs Zone 2 (other rooms) temperatures differ by about 0.6°C, far less than the 1.3°C assumed in SAP models.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Weekend and weekday mean temperatures are essentially identical, contrary to model assumptions.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annual gas consumption is ~14,000 kWh and electricity ~3,700 kWh; consumption scales with dwelling size and occupancy.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Centrally heated homes run heating ~8–9 hours/day, while non‑centrally heated homes run it up to 15 hours/day.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35040" y="1554480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583680" y="16002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 Gap</a:t>
            </a: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35040" y="237744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83680" y="242316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Duration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5040" y="3200400"/>
            <a:ext cx="457200" cy="4572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583680" y="324612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Use</a:t>
            </a:r>
            <a:endParaRPr lang="en-US" sz="12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35040" y="4023360"/>
            <a:ext cx="457200" cy="4572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83680" y="406908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Behaviour Patterns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36576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666666"/>
                </a:solidFill>
                <a:hlinkClick r:id="rId9"/>
              </a:rPr>
              <a:t>[1]</a:t>
            </a:r>
            <a:pPr indent="0" marL="0">
              <a:buNone/>
            </a:pPr>
            <a:r>
              <a:rPr lang="en-US" sz="600" u="sng" dirty="0">
                <a:solidFill>
                  <a:srgbClr val="666666"/>
                </a:solidFill>
                <a:hlinkClick r:id="rId9"/>
              </a:rPr>
              <a:t> [2]</a:t>
            </a:r>
            <a:pPr indent="0" marL="0">
              <a:buNone/>
            </a:pPr>
            <a:r>
              <a:rPr lang="en-US" sz="600" u="sng" dirty="0">
                <a:solidFill>
                  <a:srgbClr val="666666"/>
                </a:solidFill>
                <a:hlinkClick r:id="rId11"/>
              </a:rPr>
              <a:t> [3]</a:t>
            </a:r>
            <a:pPr indent="0" marL="0">
              <a:buNone/>
            </a:pPr>
            <a:r>
              <a:rPr lang="en-US" sz="600" u="sng" dirty="0">
                <a:solidFill>
                  <a:srgbClr val="666666"/>
                </a:solidFill>
                <a:hlinkClick r:id="rId12"/>
              </a:rPr>
              <a:t> [4]</a:t>
            </a:r>
            <a:endParaRPr lang="en-US" sz="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Season Mean Temperatures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645920"/>
          <a:ext cx="5029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5760720" y="182880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Living rooms average ~19.3°C and other rooms ~18.8–18.9°C during the heating season.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mean temperatures are much lower (~9°C), highlighting the heating demand gap.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Difference between zone 1 and zone 2 temperatures (~0.6°C) is smaller than SAP’s 1.3°C assumption.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666666"/>
                </a:solidFill>
                <a:hlinkClick r:id="rId2"/>
              </a:rPr>
              <a:t>[5]</a:t>
            </a:r>
            <a:pPr indent="0" marL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 [6]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Heating Hours &amp; Energy Use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645920"/>
          <a:ext cx="60350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28800"/>
                <a:gridCol w="1920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Centrally heated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Non‑centrally heated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1D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30A18"/>
                          </a:solidFill>
                        </a:rPr>
                        <a:t>Share of households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90%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10%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30A18"/>
                          </a:solidFill>
                        </a:rPr>
                        <a:t>Median daily heating hours (householder)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8.4–8.8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10.7–15.3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30A18"/>
                          </a:solidFill>
                        </a:rPr>
                        <a:t>Median daily heating hours (temperature)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8.8–9.5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9.1–16.5 hrs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30A18"/>
                          </a:solidFill>
                        </a:rPr>
                        <a:t>Typical heating periods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2 periods (69%); 1 period (21%)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30A18"/>
                          </a:solidFill>
                        </a:rPr>
                        <a:t>1 period (81%); 2+ periods (10%)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AFC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583680" y="16459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E9F5F2"/>
          </a:solidFill>
          <a:ln w="12700">
            <a:solidFill>
              <a:srgbClr val="C0E6E2"/>
            </a:solidFill>
            <a:prstDash val="solid"/>
          </a:ln>
        </p:spPr>
        <p:txBody>
          <a:bodyPr/>
          <a:p/>
        </p:txBody>
      </p:sp>
      <p:sp>
        <p:nvSpPr>
          <p:cNvPr id="5" name="Text 2"/>
          <p:cNvSpPr/>
          <p:nvPr/>
        </p:nvSpPr>
        <p:spPr>
          <a:xfrm>
            <a:off x="6675120" y="173736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30A18"/>
                </a:solidFill>
              </a:rPr>
              <a:t>Median Consumption
</a:t>
            </a:r>
            <a:pPr algn="l"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Gas: ~14,000 kWh/yr
</a:t>
            </a:r>
            <a:pPr algn="l"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Electricity: ~3,700 kWh/yr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374904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use scales with floor area; electricity scales with occupancy and size.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576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666666"/>
                </a:solidFill>
                <a:hlinkClick r:id="rId1"/>
              </a:rPr>
              <a:t>[7]</a:t>
            </a:r>
            <a:pPr indent="0" marL="0">
              <a:buNone/>
            </a:pPr>
            <a:r>
              <a:rPr lang="en-US" sz="600" u="sng" dirty="0">
                <a:solidFill>
                  <a:srgbClr val="666666"/>
                </a:solidFill>
                <a:hlinkClick r:id="rId2"/>
              </a:rPr>
              <a:t> [8]</a:t>
            </a:r>
            <a:pPr indent="0" marL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 [9]</a:t>
            </a:r>
            <a:pPr indent="0" marL="0">
              <a:buNone/>
            </a:pPr>
            <a:r>
              <a:rPr lang="en-US" sz="600" u="sng" dirty="0">
                <a:solidFill>
                  <a:srgbClr val="666666"/>
                </a:solidFill>
                <a:hlinkClick r:id="rId4"/>
              </a:rPr>
              <a:t> [10]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Policy Implications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 energy models: adopt smaller temperature differential (0.6°C vs 1.3°C) and equalise weekend/weekday patterns.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realistic heating periods: shorten heating season to 6–7 months and reflect actual daily hours for different system types.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insulation &amp; occupancy: consumption rises with dwelling size and occupant numbers; improved insulation reduces gas use.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focus: support elderly and fuel‑poor households to achieve comfortable temperatures without overspending.</a:t>
            </a:r>
            <a:endParaRPr lang="en-US" sz="1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400800" y="18288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498080" y="201168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Comfort &amp; Efficiency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65760" y="48234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" u="sng" dirty="0">
                <a:solidFill>
                  <a:srgbClr val="666666"/>
                </a:solidFill>
                <a:hlinkClick r:id="rId3"/>
              </a:rPr>
              <a:t>[11]</a:t>
            </a:r>
            <a:pPr indent="0" marL="0">
              <a:buNone/>
            </a:pPr>
            <a:r>
              <a:rPr lang="en-US" sz="600" u="sng" dirty="0">
                <a:solidFill>
                  <a:srgbClr val="666666"/>
                </a:solidFill>
                <a:hlinkClick r:id="rId4"/>
              </a:rPr>
              <a:t> [12]</a:t>
            </a:r>
            <a:pPr indent="0" marL="0">
              <a:buNone/>
            </a:pPr>
            <a:r>
              <a:rPr lang="en-US" sz="600" u="sng" dirty="0">
                <a:solidFill>
                  <a:srgbClr val="666666"/>
                </a:solidFill>
                <a:hlinkClick r:id="rId5"/>
              </a:rPr>
              <a:t> [13]</a:t>
            </a:r>
            <a:pPr indent="0" marL="0">
              <a:buNone/>
            </a:pPr>
            <a:r>
              <a:rPr lang="en-US" sz="600" u="sng" dirty="0">
                <a:solidFill>
                  <a:srgbClr val="666666"/>
                </a:solidFill>
                <a:hlinkClick r:id="rId6"/>
              </a:rPr>
              <a:t> [14]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2025-10-23T16:18:00Z</dcterms:created>
  <dcterms:modified xsi:type="dcterms:W3CDTF">2025-10-23T16:18:00Z</dcterms:modified>
</cp:coreProperties>
</file>