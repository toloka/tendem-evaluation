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83167f4cf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83167f4cf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83167f4cf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983167f4cf_4_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83167f4cf_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983167f4cf_4_1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83167f4cf_4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983167f4cf_4_2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83167f4cf_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983167f4cf_4_3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300"/>
              <a:buFont typeface="Calibri"/>
              <a:buNone/>
            </a:pPr>
            <a:r>
              <a:rPr b="1" lang="en">
                <a:solidFill>
                  <a:srgbClr val="1F4E79"/>
                </a:solidFill>
              </a:rPr>
              <a:t>Domestic Energy Use – Key Findings (EFUS 2011)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500"/>
              <a:buNone/>
            </a:pPr>
            <a:r>
              <a:rPr lang="en" sz="1500">
                <a:solidFill>
                  <a:srgbClr val="A5A5A5"/>
                </a:solidFill>
              </a:rPr>
              <a:t>Summary based on EFUS 2011 Report 1: Summary of findings (BRE for DECC, Dec 2013)</a:t>
            </a:r>
            <a:endParaRPr/>
          </a:p>
        </p:txBody>
      </p:sp>
      <p:sp>
        <p:nvSpPr>
          <p:cNvPr id="131" name="Google Shape;131;p25"/>
          <p:cNvSpPr txBox="1"/>
          <p:nvPr/>
        </p:nvSpPr>
        <p:spPr>
          <a:xfrm>
            <a:off x="6537906" y="4663440"/>
            <a:ext cx="2263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Prepared by BRE for DECC</a:t>
            </a:r>
            <a:endParaRPr b="0" i="0" sz="9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500"/>
              <a:buFont typeface="Arial"/>
              <a:buNone/>
            </a:pPr>
            <a:r>
              <a:rPr lang="en" sz="9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(December 2013)</a:t>
            </a:r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Heating-season mean internal temperatures (Oct–Apr): Living room 19.3°C; Hallway 18.8°C; Bedroom 18.9°C; whole dwelling ~19.0°C (no weekday/weekend differences)</a:t>
            </a:r>
            <a:endParaRPr sz="1100"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Model discrepancies: Observed Zone 1–Zone 2 difference ~0.6°C vs ~1.3°C assumed in SAP; SAP Zone 1 temperature ~0.8°C higher than EFUS observed</a:t>
            </a:r>
            <a:endParaRPr sz="1100"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Heating usage: Centrally heated households with regular heating median 8.4–8.8h (self-reported) or 8.8–9.5h (temperature-derived) daily; those in during weekdays heat longer (9.4h vs 8h)</a:t>
            </a:r>
            <a:endParaRPr sz="1100"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Heating season: Regular heating reported for 6–7 months, 1–2 months shorter than SAP assumptions</a:t>
            </a:r>
            <a:endParaRPr sz="1100"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Boost heating: Among timer-controlled regular heating households (12.2m), 61% use boost weekly; 26% do not.</a:t>
            </a:r>
            <a:endParaRPr sz="1100"/>
          </a:p>
        </p:txBody>
      </p:sp>
      <p:sp>
        <p:nvSpPr>
          <p:cNvPr id="137" name="Google Shape;137;p26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300"/>
              <a:buFont typeface="Calibri"/>
              <a:buNone/>
            </a:pPr>
            <a:r>
              <a:rPr lang="en">
                <a:solidFill>
                  <a:srgbClr val="1F4E79"/>
                </a:solidFill>
              </a:rPr>
              <a:t>Key Findings 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ure1_crop.png" id="142" name="Google Shape;14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100" y="704850"/>
            <a:ext cx="8629677" cy="4391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7"/>
          <p:cNvSpPr/>
          <p:nvPr/>
        </p:nvSpPr>
        <p:spPr>
          <a:xfrm>
            <a:off x="1987509" y="1501633"/>
            <a:ext cx="2160900" cy="875100"/>
          </a:xfrm>
          <a:prstGeom prst="rect">
            <a:avLst/>
          </a:prstGeom>
          <a:noFill/>
          <a:ln cap="flat" cmpd="sng" w="14075">
            <a:solidFill>
              <a:srgbClr val="70AD47"/>
            </a:solidFill>
            <a:prstDash val="solid"/>
            <a:round/>
            <a:headEnd len="sm" w="sm" type="none"/>
            <a:tailEnd len="sm" w="sm" type="none"/>
          </a:ln>
          <a:effectLst>
            <a:outerShdw blurRad="29561" rotWithShape="0" dir="5400000" dist="16998">
              <a:srgbClr val="000000">
                <a:alpha val="34901"/>
              </a:srgbClr>
            </a:outerShdw>
          </a:effectLst>
        </p:spPr>
        <p:txBody>
          <a:bodyPr anchorCtr="0" anchor="ctr" bIns="25350" lIns="50675" spcFirstLastPara="1" rIns="50675" wrap="square" tIns="25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1180624" y="1207211"/>
            <a:ext cx="20583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50" lIns="50675" spcFirstLastPara="1" rIns="50675" wrap="square" tIns="253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12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Living: 19.3°C</a:t>
            </a:r>
            <a:endParaRPr sz="1112"/>
          </a:p>
        </p:txBody>
      </p:sp>
      <p:sp>
        <p:nvSpPr>
          <p:cNvPr id="145" name="Google Shape;145;p27"/>
          <p:cNvSpPr txBox="1"/>
          <p:nvPr/>
        </p:nvSpPr>
        <p:spPr>
          <a:xfrm>
            <a:off x="2692183" y="1207215"/>
            <a:ext cx="1565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50" lIns="50675" spcFirstLastPara="1" rIns="50675" wrap="square" tIns="253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2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Hallway: 18.8°C</a:t>
            </a:r>
            <a:endParaRPr sz="1112"/>
          </a:p>
        </p:txBody>
      </p:sp>
      <p:sp>
        <p:nvSpPr>
          <p:cNvPr id="146" name="Google Shape;146;p27"/>
          <p:cNvSpPr txBox="1"/>
          <p:nvPr/>
        </p:nvSpPr>
        <p:spPr>
          <a:xfrm>
            <a:off x="4719143" y="1207208"/>
            <a:ext cx="20583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50" lIns="50675" spcFirstLastPara="1" rIns="50675" wrap="square" tIns="253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2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Bedroom: 18.9°C</a:t>
            </a:r>
            <a:endParaRPr sz="1112"/>
          </a:p>
        </p:txBody>
      </p:sp>
      <p:sp>
        <p:nvSpPr>
          <p:cNvPr id="147" name="Google Shape;147;p27"/>
          <p:cNvSpPr txBox="1"/>
          <p:nvPr>
            <p:ph type="title"/>
          </p:nvPr>
        </p:nvSpPr>
        <p:spPr>
          <a:xfrm>
            <a:off x="314326" y="0"/>
            <a:ext cx="8077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300"/>
              <a:buFont typeface="Calibri"/>
              <a:buNone/>
            </a:pPr>
            <a:r>
              <a:rPr lang="en">
                <a:solidFill>
                  <a:srgbClr val="1F4E79"/>
                </a:solidFill>
              </a:rPr>
              <a:t>Mean Household Temperatures (Monthly)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ble1_crop.png" id="152" name="Google Shape;1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5650" y="171450"/>
            <a:ext cx="5572125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8"/>
          <p:cNvSpPr txBox="1"/>
          <p:nvPr/>
        </p:nvSpPr>
        <p:spPr>
          <a:xfrm>
            <a:off x="276225" y="2571750"/>
            <a:ext cx="2914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Key finding: Median daily heating 8.4–8.8h (self-reported) or 8.8–9.5h (temperature-monitored)</a:t>
            </a:r>
            <a:endParaRPr sz="1100"/>
          </a:p>
        </p:txBody>
      </p:sp>
      <p:sp>
        <p:nvSpPr>
          <p:cNvPr id="154" name="Google Shape;154;p28"/>
          <p:cNvSpPr txBox="1"/>
          <p:nvPr>
            <p:ph type="title"/>
          </p:nvPr>
        </p:nvSpPr>
        <p:spPr>
          <a:xfrm>
            <a:off x="180975" y="1072750"/>
            <a:ext cx="3009900" cy="13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ct val="100000"/>
              <a:buFont typeface="Calibri"/>
              <a:buNone/>
            </a:pPr>
            <a:r>
              <a:rPr lang="en">
                <a:solidFill>
                  <a:srgbClr val="1F4E79"/>
                </a:solidFill>
              </a:rPr>
              <a:t>Heating Hours – Main Heating Patterns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Model calibration needed: Reduce Zone 1–Zone 2 temperature gradient (~0.6°C observed vs ~1.3°C in SAP); remove weekday/weekend temperature deltas</a:t>
            </a:r>
            <a:endParaRPr sz="1100"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Update heating season assumptions: Use 6–7 months (vs 8 in SAP) and median daily hours of 8.4–9.5h; consider boost heating usage (61% of timer-controlled households)</a:t>
            </a:r>
            <a:endParaRPr sz="1100"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Model overestimation risk: Many households don't reach thermostat set-points during heating periods, potentially causing energy consumption overestimates</a:t>
            </a:r>
            <a:endParaRPr sz="1100"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Temperature factors: Higher achieved temps associated with double glazing, daytime occupancy, smaller floor area (&lt;50m²), older occupants (&gt;75 years)</a:t>
            </a:r>
            <a:endParaRPr sz="1100"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Policy implications: ~65% of households have rooms not heated by main system; improvements to poorly performing properties may reduce underspend rather than deliver consumption reductions</a:t>
            </a:r>
            <a:endParaRPr sz="1100"/>
          </a:p>
        </p:txBody>
      </p:sp>
      <p:sp>
        <p:nvSpPr>
          <p:cNvPr id="160" name="Google Shape;160;p29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300"/>
              <a:buFont typeface="Calibri"/>
              <a:buNone/>
            </a:pPr>
            <a:r>
              <a:rPr lang="en">
                <a:solidFill>
                  <a:srgbClr val="1F4E79"/>
                </a:solidFill>
              </a:rPr>
              <a:t>Implications &amp; Takeaways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